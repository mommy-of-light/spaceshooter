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240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400" y="914400"/>
            <a:ext cx="10332720" cy="4754880"/>
          </a:xfrm>
          <a:prstGeom prst="rect">
            <a:avLst/>
          </a:prstGeom>
          <a:solidFill>
            <a:srgbClr val="121226"/>
          </a:solidFill>
          <a:ln w="15240">
            <a:solidFill>
              <a:srgbClr val="FF2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4400" y="914400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1137392" y="914400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" y="5559552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1137392" y="5559552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25880" y="1417320"/>
            <a:ext cx="9509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F0FF"/>
                </a:solidFill>
                <a:latin typeface="Aptos"/>
              </a:defRPr>
            </a:pPr>
            <a:r>
              <a:rPr dirty="0"/>
              <a:t>SPACE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2084831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2DB4"/>
                </a:solidFill>
                <a:latin typeface="Aptos"/>
              </a:defRPr>
            </a:pPr>
            <a:r>
              <a:rPr dirty="0"/>
              <a:t>SHOOTER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3063240"/>
            <a:ext cx="9509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E646"/>
                </a:solidFill>
                <a:latin typeface="Aptos"/>
              </a:defRPr>
            </a:pPr>
            <a:r>
              <a:rPr dirty="0"/>
              <a:t>C# / </a:t>
            </a:r>
            <a:r>
              <a:rPr lang="fr-CH" dirty="0"/>
              <a:t>PROJET  </a:t>
            </a:r>
            <a:r>
              <a:rPr dirty="0"/>
              <a:t>MONOGAME</a:t>
            </a:r>
            <a:r>
              <a:rPr lang="fr-CH" dirty="0"/>
              <a:t> / Bastien JCLN / 26:10:2026</a:t>
            </a:r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1325880" y="4663440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CFF82"/>
                </a:solidFill>
                <a:latin typeface="Aptos"/>
              </a:defRPr>
            </a:pPr>
            <a:r>
              <a:rPr dirty="0"/>
              <a:t>PRESS START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12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28600" y="6620256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93192" y="6620256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57784" y="6620256"/>
            <a:ext cx="109728" cy="109728"/>
          </a:xfrm>
          <a:prstGeom prst="rect">
            <a:avLst/>
          </a:prstGeom>
          <a:solidFill>
            <a:srgbClr val="FFE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22376" y="6620256"/>
            <a:ext cx="109728" cy="109728"/>
          </a:xfrm>
          <a:prstGeom prst="rect">
            <a:avLst/>
          </a:prstGeom>
          <a:solidFill>
            <a:srgbClr val="3CF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0120" y="65608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5A5BE"/>
                </a:solidFill>
                <a:latin typeface="Bahnschrift"/>
              </a:defRPr>
            </a:pPr>
            <a:r>
              <a:t>INSERT COIN   •   C# / MONOGAME   •   1 PLAYER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64240" y="65562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F0FF"/>
                </a:solidFill>
                <a:latin typeface="Bahnschrift"/>
              </a:defRPr>
            </a:pPr>
            <a: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F"/>
                </a:solidFill>
                <a:latin typeface="Bahnschrift"/>
              </a:defRPr>
            </a:pPr>
            <a:r>
              <a:rPr dirty="0"/>
              <a:t>PROJECT OVERVIEW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" y="1143000"/>
            <a:ext cx="2103120" cy="50292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80360" y="9875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5A5BE"/>
                </a:solidFill>
                <a:latin typeface="Bahnschrift"/>
              </a:defRPr>
            </a:pPr>
            <a:r>
              <a:rPr lang="fr-CH" dirty="0"/>
              <a:t>REPLACE WITH YOUR INTRODUCTION</a:t>
            </a:r>
            <a:endParaRPr dirty="0"/>
          </a:p>
        </p:txBody>
      </p:sp>
      <p:sp>
        <p:nvSpPr>
          <p:cNvPr id="27" name="Rectangle 26"/>
          <p:cNvSpPr/>
          <p:nvPr/>
        </p:nvSpPr>
        <p:spPr>
          <a:xfrm>
            <a:off x="640080" y="1554480"/>
            <a:ext cx="5303520" cy="4480560"/>
          </a:xfrm>
          <a:prstGeom prst="rect">
            <a:avLst/>
          </a:prstGeom>
          <a:solidFill>
            <a:srgbClr val="121226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1554480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833872" y="1554480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5925312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833872" y="5925312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18745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E646"/>
                </a:solidFill>
                <a:latin typeface="Aptos"/>
              </a:defRPr>
            </a:pPr>
            <a:r>
              <a:t>THE GAME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2423160"/>
            <a:ext cx="4572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5F5FF"/>
                </a:solidFill>
                <a:latin typeface="Aptos"/>
              </a:defRPr>
            </a:pPr>
            <a:r>
              <a:rPr dirty="0"/>
              <a:t>▸ Space Shooter / arcade gameplay</a:t>
            </a:r>
          </a:p>
          <a:p>
            <a:pPr>
              <a:spcAft>
                <a:spcPts val="900"/>
              </a:spcAft>
              <a:defRPr sz="1600">
                <a:solidFill>
                  <a:srgbClr val="F5F5FF"/>
                </a:solidFill>
                <a:latin typeface="Aptos"/>
              </a:defRPr>
            </a:pPr>
            <a:r>
              <a:rPr dirty="0"/>
              <a:t>▸ Built with C# and </a:t>
            </a:r>
            <a:r>
              <a:rPr dirty="0" err="1"/>
              <a:t>MonoGame</a:t>
            </a:r>
            <a:endParaRPr dirty="0"/>
          </a:p>
          <a:p>
            <a:pPr>
              <a:spcAft>
                <a:spcPts val="900"/>
              </a:spcAft>
              <a:defRPr sz="1600">
                <a:solidFill>
                  <a:srgbClr val="F5F5FF"/>
                </a:solidFill>
                <a:latin typeface="Aptos"/>
              </a:defRPr>
            </a:pPr>
            <a:r>
              <a:rPr dirty="0"/>
              <a:t>▸ Wave-based enemy system</a:t>
            </a:r>
          </a:p>
          <a:p>
            <a:pPr>
              <a:spcAft>
                <a:spcPts val="900"/>
              </a:spcAft>
              <a:defRPr sz="1600">
                <a:solidFill>
                  <a:srgbClr val="F5F5FF"/>
                </a:solidFill>
                <a:latin typeface="Aptos"/>
              </a:defRPr>
            </a:pPr>
            <a:r>
              <a:rPr dirty="0"/>
              <a:t>▸ Upgrades, projectiles and bosses</a:t>
            </a:r>
          </a:p>
          <a:p>
            <a:pPr>
              <a:spcAft>
                <a:spcPts val="900"/>
              </a:spcAft>
              <a:defRPr sz="1600">
                <a:solidFill>
                  <a:srgbClr val="F5F5FF"/>
                </a:solidFill>
                <a:latin typeface="Aptos"/>
              </a:defRPr>
            </a:pPr>
            <a:r>
              <a:rPr dirty="0"/>
              <a:t>▸ Save / load and score progression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1554480"/>
            <a:ext cx="5303520" cy="4480560"/>
          </a:xfrm>
          <a:prstGeom prst="rect">
            <a:avLst/>
          </a:prstGeom>
          <a:solidFill>
            <a:srgbClr val="121226"/>
          </a:solidFill>
          <a:ln w="15240">
            <a:solidFill>
              <a:srgbClr val="FF2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20" y="1554480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1411712" y="1554480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17920" y="5925312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411712" y="5925312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37960" y="18745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0FF"/>
                </a:solidFill>
                <a:latin typeface="Aptos"/>
              </a:defRPr>
            </a:pPr>
            <a:r>
              <a:t>SCREENSHOT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12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28600" y="6620256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93192" y="6620256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57784" y="6620256"/>
            <a:ext cx="109728" cy="109728"/>
          </a:xfrm>
          <a:prstGeom prst="rect">
            <a:avLst/>
          </a:prstGeom>
          <a:solidFill>
            <a:srgbClr val="FFE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22376" y="6620256"/>
            <a:ext cx="109728" cy="109728"/>
          </a:xfrm>
          <a:prstGeom prst="rect">
            <a:avLst/>
          </a:prstGeom>
          <a:solidFill>
            <a:srgbClr val="3CF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60120" y="65608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5A5BE"/>
                </a:solidFill>
                <a:latin typeface="Bahnschrift"/>
              </a:defRPr>
            </a:pPr>
            <a:r>
              <a:t>INSERT COIN   •   C# / MONOGAME   •   1 PLAYER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64240" y="65562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F0FF"/>
                </a:solidFill>
                <a:latin typeface="Bahnschrift"/>
              </a:defRPr>
            </a:pPr>
            <a:r>
              <a:t>02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53F0914F-02F2-4B10-35C6-DDC26C776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8025" y="1554480"/>
            <a:ext cx="2703415" cy="448056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A7D043A5-53BD-E03A-5DD3-95166F254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232050"/>
            <a:ext cx="2239421" cy="3711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F"/>
                </a:solidFill>
                <a:latin typeface="Bahnschrift"/>
              </a:defRPr>
            </a:pPr>
            <a:r>
              <a:t>FEATURES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" y="1143000"/>
            <a:ext cx="2103120" cy="5029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80360" y="9875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5A5BE"/>
                </a:solidFill>
                <a:latin typeface="Bahnschrift"/>
              </a:defRPr>
            </a:pPr>
            <a:r>
              <a:t>WHAT MAKES THE GAME FUN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1600200"/>
            <a:ext cx="5074920" cy="1691640"/>
          </a:xfrm>
          <a:prstGeom prst="rect">
            <a:avLst/>
          </a:prstGeom>
          <a:solidFill>
            <a:srgbClr val="121226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" y="1600200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650992" y="1600200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5800" y="3182112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50992" y="3182112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1856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0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18288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5FF"/>
                </a:solidFill>
                <a:latin typeface="Aptos"/>
              </a:defRPr>
            </a:pPr>
            <a:r>
              <a:t>WAVES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235000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5A5BE"/>
                </a:solidFill>
                <a:latin typeface="Aptos"/>
              </a:defRPr>
            </a:pPr>
            <a:r>
              <a:t>Add a short explanation here.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1600200"/>
            <a:ext cx="5074920" cy="1691640"/>
          </a:xfrm>
          <a:prstGeom prst="rect">
            <a:avLst/>
          </a:prstGeom>
          <a:solidFill>
            <a:srgbClr val="121226"/>
          </a:solidFill>
          <a:ln w="15240">
            <a:solidFill>
              <a:srgbClr val="FF2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09360" y="1600200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274552" y="1600200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309360" y="3182112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274552" y="3182112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83680" y="1856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2DB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18288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5FF"/>
                </a:solidFill>
                <a:latin typeface="Aptos"/>
              </a:defRPr>
            </a:pPr>
            <a:r>
              <a:t>UPGRADES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235000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5A5BE"/>
                </a:solidFill>
                <a:latin typeface="Aptos"/>
              </a:defRPr>
            </a:pPr>
            <a:r>
              <a:t>Add a short explanation here.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3749039"/>
            <a:ext cx="5074920" cy="1691640"/>
          </a:xfrm>
          <a:prstGeom prst="rect">
            <a:avLst/>
          </a:prstGeom>
          <a:solidFill>
            <a:srgbClr val="121226"/>
          </a:solidFill>
          <a:ln w="15240">
            <a:solidFill>
              <a:srgbClr val="FFE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85800" y="3749039"/>
            <a:ext cx="109728" cy="109728"/>
          </a:xfrm>
          <a:prstGeom prst="rect">
            <a:avLst/>
          </a:prstGeom>
          <a:solidFill>
            <a:srgbClr val="FFE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650992" y="3749039"/>
            <a:ext cx="109728" cy="109728"/>
          </a:xfrm>
          <a:prstGeom prst="rect">
            <a:avLst/>
          </a:prstGeom>
          <a:solidFill>
            <a:srgbClr val="FFE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85800" y="5330951"/>
            <a:ext cx="109728" cy="109728"/>
          </a:xfrm>
          <a:prstGeom prst="rect">
            <a:avLst/>
          </a:prstGeom>
          <a:solidFill>
            <a:srgbClr val="FFE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650992" y="5330951"/>
            <a:ext cx="109728" cy="109728"/>
          </a:xfrm>
          <a:prstGeom prst="rect">
            <a:avLst/>
          </a:prstGeom>
          <a:solidFill>
            <a:srgbClr val="FFE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0120" y="40050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E64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91640" y="3977639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5FF"/>
                </a:solidFill>
                <a:latin typeface="Aptos"/>
              </a:defRPr>
            </a:pPr>
            <a:r>
              <a:t>BOSSES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91640" y="449884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5A5BE"/>
                </a:solidFill>
                <a:latin typeface="Aptos"/>
              </a:defRPr>
            </a:pPr>
            <a:r>
              <a:t>Add a short explanation here.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3749039"/>
            <a:ext cx="5074920" cy="1691640"/>
          </a:xfrm>
          <a:prstGeom prst="rect">
            <a:avLst/>
          </a:prstGeom>
          <a:solidFill>
            <a:srgbClr val="121226"/>
          </a:solidFill>
          <a:ln w="15240">
            <a:solidFill>
              <a:srgbClr val="3CF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309360" y="3749039"/>
            <a:ext cx="109728" cy="109728"/>
          </a:xfrm>
          <a:prstGeom prst="rect">
            <a:avLst/>
          </a:prstGeom>
          <a:solidFill>
            <a:srgbClr val="3CF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1274552" y="3749039"/>
            <a:ext cx="109728" cy="109728"/>
          </a:xfrm>
          <a:prstGeom prst="rect">
            <a:avLst/>
          </a:prstGeom>
          <a:solidFill>
            <a:srgbClr val="3CF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309360" y="5330951"/>
            <a:ext cx="109728" cy="109728"/>
          </a:xfrm>
          <a:prstGeom prst="rect">
            <a:avLst/>
          </a:prstGeom>
          <a:solidFill>
            <a:srgbClr val="3CF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1274552" y="5330951"/>
            <a:ext cx="109728" cy="109728"/>
          </a:xfrm>
          <a:prstGeom prst="rect">
            <a:avLst/>
          </a:prstGeom>
          <a:solidFill>
            <a:srgbClr val="3CF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83680" y="40050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CFF8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0" y="3977639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5FF"/>
                </a:solidFill>
                <a:latin typeface="Aptos"/>
              </a:defRPr>
            </a:pPr>
            <a:r>
              <a:t>SAVES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0" y="449884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5A5BE"/>
                </a:solidFill>
                <a:latin typeface="Aptos"/>
              </a:defRPr>
            </a:pPr>
            <a:r>
              <a:t>Add a short explanation here.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12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228600" y="6620256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393192" y="6620256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57784" y="6620256"/>
            <a:ext cx="109728" cy="109728"/>
          </a:xfrm>
          <a:prstGeom prst="rect">
            <a:avLst/>
          </a:prstGeom>
          <a:solidFill>
            <a:srgbClr val="FFE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22376" y="6620256"/>
            <a:ext cx="109728" cy="109728"/>
          </a:xfrm>
          <a:prstGeom prst="rect">
            <a:avLst/>
          </a:prstGeom>
          <a:solidFill>
            <a:srgbClr val="3CF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60120" y="65608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5A5BE"/>
                </a:solidFill>
                <a:latin typeface="Bahnschrift"/>
              </a:defRPr>
            </a:pPr>
            <a:r>
              <a:t>INSERT COIN   •   C# / MONOGAME   •   1 PLAYER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64240" y="65562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F0FF"/>
                </a:solidFill>
                <a:latin typeface="Bahnschrift"/>
              </a:defRPr>
            </a:pPr>
            <a: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F"/>
                </a:solidFill>
                <a:latin typeface="Bahnschrift"/>
              </a:defRPr>
            </a:pPr>
            <a:r>
              <a:t>ARCHITECTURE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" y="1143000"/>
            <a:ext cx="2103120" cy="50292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80360" y="9875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5A5BE"/>
                </a:solidFill>
                <a:latin typeface="Bahnschrift"/>
              </a:defRPr>
            </a:pPr>
            <a:r>
              <a:t>C# / MONOGAME STRUCTURE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2423160"/>
            <a:ext cx="1828800" cy="960120"/>
          </a:xfrm>
          <a:prstGeom prst="rect">
            <a:avLst/>
          </a:prstGeom>
          <a:solidFill>
            <a:srgbClr val="121226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2423160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359152" y="2423160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3273552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359152" y="3273552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19" y="27249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5FF"/>
                </a:solidFill>
                <a:latin typeface="Aptos"/>
              </a:defRPr>
            </a:pPr>
            <a:r>
              <a:t>GAME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80360" y="2423160"/>
            <a:ext cx="1828800" cy="960120"/>
          </a:xfrm>
          <a:prstGeom prst="rect">
            <a:avLst/>
          </a:prstGeom>
          <a:solidFill>
            <a:srgbClr val="121226"/>
          </a:solidFill>
          <a:ln w="15240">
            <a:solidFill>
              <a:srgbClr val="FF2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880360" y="2423160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99432" y="2423160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880360" y="3273552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99432" y="3273552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971800" y="27249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5FF"/>
                </a:solidFill>
                <a:latin typeface="Aptos"/>
              </a:defRPr>
            </a:pPr>
            <a:r>
              <a:t>SCREENS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20640" y="2423160"/>
            <a:ext cx="1828800" cy="960120"/>
          </a:xfrm>
          <a:prstGeom prst="rect">
            <a:avLst/>
          </a:prstGeom>
          <a:solidFill>
            <a:srgbClr val="121226"/>
          </a:solidFill>
          <a:ln w="15240">
            <a:solidFill>
              <a:srgbClr val="FFE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120640" y="2423160"/>
            <a:ext cx="109728" cy="109728"/>
          </a:xfrm>
          <a:prstGeom prst="rect">
            <a:avLst/>
          </a:prstGeom>
          <a:solidFill>
            <a:srgbClr val="FFE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39712" y="2423160"/>
            <a:ext cx="109728" cy="109728"/>
          </a:xfrm>
          <a:prstGeom prst="rect">
            <a:avLst/>
          </a:prstGeom>
          <a:solidFill>
            <a:srgbClr val="FFE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120640" y="3273552"/>
            <a:ext cx="109728" cy="109728"/>
          </a:xfrm>
          <a:prstGeom prst="rect">
            <a:avLst/>
          </a:prstGeom>
          <a:solidFill>
            <a:srgbClr val="FFE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839712" y="3273552"/>
            <a:ext cx="109728" cy="109728"/>
          </a:xfrm>
          <a:prstGeom prst="rect">
            <a:avLst/>
          </a:prstGeom>
          <a:solidFill>
            <a:srgbClr val="FFE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212079" y="27249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5FF"/>
                </a:solidFill>
                <a:latin typeface="Aptos"/>
              </a:defRPr>
            </a:pPr>
            <a:r>
              <a:t>ENTITIES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60920" y="2423160"/>
            <a:ext cx="1828800" cy="960120"/>
          </a:xfrm>
          <a:prstGeom prst="rect">
            <a:avLst/>
          </a:prstGeom>
          <a:solidFill>
            <a:srgbClr val="121226"/>
          </a:solidFill>
          <a:ln w="15240">
            <a:solidFill>
              <a:srgbClr val="3CF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360920" y="2423160"/>
            <a:ext cx="109728" cy="109728"/>
          </a:xfrm>
          <a:prstGeom prst="rect">
            <a:avLst/>
          </a:prstGeom>
          <a:solidFill>
            <a:srgbClr val="3CF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079992" y="2423160"/>
            <a:ext cx="109728" cy="109728"/>
          </a:xfrm>
          <a:prstGeom prst="rect">
            <a:avLst/>
          </a:prstGeom>
          <a:solidFill>
            <a:srgbClr val="3CF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360920" y="3273552"/>
            <a:ext cx="109728" cy="109728"/>
          </a:xfrm>
          <a:prstGeom prst="rect">
            <a:avLst/>
          </a:prstGeom>
          <a:solidFill>
            <a:srgbClr val="3CF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079992" y="3273552"/>
            <a:ext cx="109728" cy="109728"/>
          </a:xfrm>
          <a:prstGeom prst="rect">
            <a:avLst/>
          </a:prstGeom>
          <a:solidFill>
            <a:srgbClr val="3CF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52360" y="27249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5FF"/>
                </a:solidFill>
                <a:latin typeface="Aptos"/>
              </a:defRPr>
            </a:pPr>
            <a:r>
              <a:t>SYSTEMS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01200" y="2423160"/>
            <a:ext cx="1828800" cy="960120"/>
          </a:xfrm>
          <a:prstGeom prst="rect">
            <a:avLst/>
          </a:prstGeom>
          <a:solidFill>
            <a:srgbClr val="121226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601200" y="2423160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1320272" y="2423160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9601200" y="3273552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1320272" y="3273552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2640" y="27249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5FF"/>
                </a:solidFill>
                <a:latin typeface="Aptos"/>
              </a:defRPr>
            </a:pPr>
            <a:r>
              <a:t>CONTENT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2468880" y="2679192"/>
            <a:ext cx="320040" cy="411480"/>
          </a:xfrm>
          <a:prstGeom prst="rightArrow">
            <a:avLst/>
          </a:prstGeom>
          <a:solidFill>
            <a:srgbClr val="A5A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ight Arrow 57"/>
          <p:cNvSpPr/>
          <p:nvPr/>
        </p:nvSpPr>
        <p:spPr>
          <a:xfrm>
            <a:off x="4709160" y="2679192"/>
            <a:ext cx="320040" cy="411480"/>
          </a:xfrm>
          <a:prstGeom prst="rightArrow">
            <a:avLst/>
          </a:prstGeom>
          <a:solidFill>
            <a:srgbClr val="A5A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ight Arrow 58"/>
          <p:cNvSpPr/>
          <p:nvPr/>
        </p:nvSpPr>
        <p:spPr>
          <a:xfrm>
            <a:off x="6949440" y="2679192"/>
            <a:ext cx="320040" cy="411480"/>
          </a:xfrm>
          <a:prstGeom prst="rightArrow">
            <a:avLst/>
          </a:prstGeom>
          <a:solidFill>
            <a:srgbClr val="A5A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ight Arrow 59"/>
          <p:cNvSpPr/>
          <p:nvPr/>
        </p:nvSpPr>
        <p:spPr>
          <a:xfrm>
            <a:off x="9189720" y="2679192"/>
            <a:ext cx="320040" cy="411480"/>
          </a:xfrm>
          <a:prstGeom prst="rightArrow">
            <a:avLst/>
          </a:prstGeom>
          <a:solidFill>
            <a:srgbClr val="A5A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05840" y="406908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5A5BE"/>
                </a:solidFill>
                <a:latin typeface="Aptos"/>
              </a:defRPr>
            </a:pPr>
            <a:r>
              <a:t>Example: Game → PlayScreen → Player / Enemy / Boss → Projectiles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12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228600" y="6620256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393192" y="6620256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57784" y="6620256"/>
            <a:ext cx="109728" cy="109728"/>
          </a:xfrm>
          <a:prstGeom prst="rect">
            <a:avLst/>
          </a:prstGeom>
          <a:solidFill>
            <a:srgbClr val="FFE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722376" y="6620256"/>
            <a:ext cx="109728" cy="109728"/>
          </a:xfrm>
          <a:prstGeom prst="rect">
            <a:avLst/>
          </a:prstGeom>
          <a:solidFill>
            <a:srgbClr val="3CF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60120" y="65608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5A5BE"/>
                </a:solidFill>
                <a:latin typeface="Bahnschrift"/>
              </a:defRPr>
            </a:pPr>
            <a:r>
              <a:t>INSERT COIN   •   C# / MONOGAME   •   1 PLAYER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064240" y="65562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F0FF"/>
                </a:solidFill>
                <a:latin typeface="Bahnschrift"/>
              </a:defRPr>
            </a:pPr>
            <a: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F"/>
                </a:solidFill>
                <a:latin typeface="Bahnschrift"/>
              </a:defRPr>
            </a:pPr>
            <a:r>
              <a:t>GAMEPLAY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" y="1143000"/>
            <a:ext cx="2103120" cy="5029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80360" y="9875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5A5BE"/>
                </a:solidFill>
                <a:latin typeface="Bahnschrift"/>
              </a:defRPr>
            </a:pPr>
            <a:r>
              <a:t>SHOW THE GAME IN ACTION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1554480"/>
            <a:ext cx="7040880" cy="4526280"/>
          </a:xfrm>
          <a:prstGeom prst="rect">
            <a:avLst/>
          </a:prstGeom>
          <a:solidFill>
            <a:srgbClr val="121226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1554480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571232" y="1554480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5971032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571232" y="5971032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333756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5A5BE"/>
                </a:solidFill>
                <a:latin typeface="Aptos"/>
              </a:defRPr>
            </a:pPr>
            <a:r>
              <a:t>GAMEPLAY SCREENSHOT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1554480"/>
            <a:ext cx="3566160" cy="2057400"/>
          </a:xfrm>
          <a:prstGeom prst="rect">
            <a:avLst/>
          </a:prstGeom>
          <a:solidFill>
            <a:srgbClr val="121226"/>
          </a:solidFill>
          <a:ln w="15240">
            <a:solidFill>
              <a:srgbClr val="FF2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955279" y="1554480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1411712" y="1554480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955279" y="3502152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411712" y="3502152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75320" y="187451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E646"/>
                </a:solidFill>
                <a:latin typeface="Aptos"/>
              </a:defRPr>
            </a:pPr>
            <a:r>
              <a:t>CONTROLS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23317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5FF"/>
                </a:solidFill>
                <a:latin typeface="Aptos"/>
              </a:defRPr>
            </a:pPr>
            <a:r>
              <a:t>WASD / ARROWS</a:t>
            </a:r>
            <a:br/>
            <a:r>
              <a:t>SPACE = FIRE</a:t>
            </a:r>
            <a:br/>
            <a:r>
              <a:t>ESC = MENU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79" y="3886200"/>
            <a:ext cx="3566160" cy="2194560"/>
          </a:xfrm>
          <a:prstGeom prst="rect">
            <a:avLst/>
          </a:prstGeom>
          <a:solidFill>
            <a:srgbClr val="121226"/>
          </a:solidFill>
          <a:ln w="15240">
            <a:solidFill>
              <a:srgbClr val="FFE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955279" y="3886200"/>
            <a:ext cx="109728" cy="109728"/>
          </a:xfrm>
          <a:prstGeom prst="rect">
            <a:avLst/>
          </a:prstGeom>
          <a:solidFill>
            <a:srgbClr val="FFE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1411712" y="3886200"/>
            <a:ext cx="109728" cy="109728"/>
          </a:xfrm>
          <a:prstGeom prst="rect">
            <a:avLst/>
          </a:prstGeom>
          <a:solidFill>
            <a:srgbClr val="FFE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955279" y="5971032"/>
            <a:ext cx="109728" cy="109728"/>
          </a:xfrm>
          <a:prstGeom prst="rect">
            <a:avLst/>
          </a:prstGeom>
          <a:solidFill>
            <a:srgbClr val="FFE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1411712" y="5971032"/>
            <a:ext cx="109728" cy="109728"/>
          </a:xfrm>
          <a:prstGeom prst="rect">
            <a:avLst/>
          </a:prstGeom>
          <a:solidFill>
            <a:srgbClr val="FFE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75320" y="42245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F0FF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4645152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F"/>
                </a:solidFill>
                <a:latin typeface="Aptos"/>
              </a:defRPr>
            </a:pPr>
            <a:r>
              <a:t>Survive waves,</a:t>
            </a:r>
            <a:br/>
            <a:r>
              <a:t>defeat enemies,</a:t>
            </a:r>
            <a:br/>
            <a:r>
              <a:t>and improve your ship.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12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28600" y="6620256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93192" y="6620256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57784" y="6620256"/>
            <a:ext cx="109728" cy="109728"/>
          </a:xfrm>
          <a:prstGeom prst="rect">
            <a:avLst/>
          </a:prstGeom>
          <a:solidFill>
            <a:srgbClr val="FFE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22376" y="6620256"/>
            <a:ext cx="109728" cy="109728"/>
          </a:xfrm>
          <a:prstGeom prst="rect">
            <a:avLst/>
          </a:prstGeom>
          <a:solidFill>
            <a:srgbClr val="3CF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60120" y="65608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5A5BE"/>
                </a:solidFill>
                <a:latin typeface="Bahnschrift"/>
              </a:defRPr>
            </a:pPr>
            <a:r>
              <a:t>INSERT COIN   •   C# / MONOGAME   •   1 PLAYER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64240" y="65562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F0FF"/>
                </a:solidFill>
                <a:latin typeface="Bahnschrift"/>
              </a:defRPr>
            </a:pPr>
            <a: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F"/>
                </a:solidFill>
                <a:latin typeface="Bahnschrift"/>
              </a:defRPr>
            </a:pPr>
            <a:r>
              <a:t>CODE HIGHLIGHT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" y="1143000"/>
            <a:ext cx="2103120" cy="50292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80360" y="9875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5A5BE"/>
                </a:solidFill>
                <a:latin typeface="Bahnschrift"/>
              </a:defRPr>
            </a:pPr>
            <a:r>
              <a:t>REPLACE WITH YOUR OWN CODE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1554480"/>
            <a:ext cx="10835640" cy="4526280"/>
          </a:xfrm>
          <a:prstGeom prst="rect">
            <a:avLst/>
          </a:prstGeom>
          <a:solidFill>
            <a:srgbClr val="121226"/>
          </a:solidFill>
          <a:ln w="15240">
            <a:solidFill>
              <a:srgbClr val="3CF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" y="1554480"/>
            <a:ext cx="109728" cy="109728"/>
          </a:xfrm>
          <a:prstGeom prst="rect">
            <a:avLst/>
          </a:prstGeom>
          <a:solidFill>
            <a:srgbClr val="3CF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411712" y="1554480"/>
            <a:ext cx="109728" cy="109728"/>
          </a:xfrm>
          <a:prstGeom prst="rect">
            <a:avLst/>
          </a:prstGeom>
          <a:solidFill>
            <a:srgbClr val="3CF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5800" y="5971032"/>
            <a:ext cx="109728" cy="109728"/>
          </a:xfrm>
          <a:prstGeom prst="rect">
            <a:avLst/>
          </a:prstGeom>
          <a:solidFill>
            <a:srgbClr val="3CF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1411712" y="5971032"/>
            <a:ext cx="109728" cy="109728"/>
          </a:xfrm>
          <a:prstGeom prst="rect">
            <a:avLst/>
          </a:prstGeom>
          <a:solidFill>
            <a:srgbClr val="3CF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51560" y="18745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CFF82"/>
                </a:solidFill>
                <a:latin typeface="Aptos"/>
              </a:defRPr>
            </a:pPr>
            <a:r>
              <a:t>// GAME LOOP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2423160"/>
            <a:ext cx="9966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5F5FF"/>
                </a:solidFill>
                <a:latin typeface="Consolas"/>
              </a:defRPr>
            </a:pPr>
            <a:r>
              <a:t>public void Update(GameTime gameTime)</a:t>
            </a:r>
            <a:br/>
            <a:r>
              <a:t>{</a:t>
            </a:r>
            <a:br/>
            <a:r>
              <a:t>    HandleInput();</a:t>
            </a:r>
            <a:br/>
            <a:r>
              <a:t>    UpdatePlayer();</a:t>
            </a:r>
            <a:br/>
            <a:r>
              <a:t>    UpdateEnemies();</a:t>
            </a:r>
            <a:br/>
            <a:r>
              <a:t>    UpdateProjectiles();</a:t>
            </a:r>
            <a:br/>
            <a:r>
              <a:t>    CheckCollisions();</a:t>
            </a:r>
            <a:br/>
            <a:r>
              <a:t>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12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28600" y="6620256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93192" y="6620256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57784" y="6620256"/>
            <a:ext cx="109728" cy="109728"/>
          </a:xfrm>
          <a:prstGeom prst="rect">
            <a:avLst/>
          </a:prstGeom>
          <a:solidFill>
            <a:srgbClr val="FFE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22376" y="6620256"/>
            <a:ext cx="109728" cy="109728"/>
          </a:xfrm>
          <a:prstGeom prst="rect">
            <a:avLst/>
          </a:prstGeom>
          <a:solidFill>
            <a:srgbClr val="3CF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0120" y="65608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5A5BE"/>
                </a:solidFill>
                <a:latin typeface="Bahnschrift"/>
              </a:defRPr>
            </a:pPr>
            <a:r>
              <a:t>INSERT COIN   •   C# / MONOGAME   •   1 PLAYER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5562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F0FF"/>
                </a:solidFill>
                <a:latin typeface="Bahnschrift"/>
              </a:defRPr>
            </a:pPr>
            <a: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F"/>
                </a:solidFill>
                <a:latin typeface="Bahnschrift"/>
              </a:defRPr>
            </a:pPr>
            <a:r>
              <a:t>CHALLENGES &amp; SOLUTIONS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" y="1143000"/>
            <a:ext cx="2103120" cy="50292"/>
          </a:xfrm>
          <a:prstGeom prst="rect">
            <a:avLst/>
          </a:prstGeom>
          <a:solidFill>
            <a:srgbClr val="FFE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80360" y="9875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5A5BE"/>
                </a:solidFill>
                <a:latin typeface="Bahnschrift"/>
              </a:defRPr>
            </a:pPr>
            <a:r>
              <a:t>DEVELOPMENT HIGHLIGHTS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1554480"/>
            <a:ext cx="5303520" cy="4480560"/>
          </a:xfrm>
          <a:prstGeom prst="rect">
            <a:avLst/>
          </a:prstGeom>
          <a:solidFill>
            <a:srgbClr val="121226"/>
          </a:solidFill>
          <a:ln w="15240">
            <a:solidFill>
              <a:srgbClr val="FF2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1554480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833872" y="1554480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5925312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833872" y="5925312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187451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2DB4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246888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5F5FF"/>
                </a:solidFill>
                <a:latin typeface="Aptos"/>
              </a:defRPr>
            </a:pPr>
            <a:r>
              <a:t>▸ Enemy movement</a:t>
            </a:r>
          </a:p>
          <a:p>
            <a:pPr>
              <a:spcAft>
                <a:spcPts val="900"/>
              </a:spcAft>
              <a:defRPr sz="1600">
                <a:solidFill>
                  <a:srgbClr val="F5F5FF"/>
                </a:solidFill>
                <a:latin typeface="Aptos"/>
              </a:defRPr>
            </a:pPr>
            <a:r>
              <a:t>▸ Boss behaviour</a:t>
            </a:r>
          </a:p>
          <a:p>
            <a:pPr>
              <a:spcAft>
                <a:spcPts val="900"/>
              </a:spcAft>
              <a:defRPr sz="1600">
                <a:solidFill>
                  <a:srgbClr val="F5F5FF"/>
                </a:solidFill>
                <a:latin typeface="Aptos"/>
              </a:defRPr>
            </a:pPr>
            <a:r>
              <a:t>▸ Projectile collisions</a:t>
            </a:r>
          </a:p>
          <a:p>
            <a:pPr>
              <a:spcAft>
                <a:spcPts val="900"/>
              </a:spcAft>
              <a:defRPr sz="1600">
                <a:solidFill>
                  <a:srgbClr val="F5F5FF"/>
                </a:solidFill>
                <a:latin typeface="Aptos"/>
              </a:defRPr>
            </a:pPr>
            <a:r>
              <a:t>▸ Save system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1554480"/>
            <a:ext cx="5303520" cy="4480560"/>
          </a:xfrm>
          <a:prstGeom prst="rect">
            <a:avLst/>
          </a:prstGeom>
          <a:solidFill>
            <a:srgbClr val="121226"/>
          </a:solidFill>
          <a:ln w="15240">
            <a:solidFill>
              <a:srgbClr val="3CF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20" y="1554480"/>
            <a:ext cx="109728" cy="109728"/>
          </a:xfrm>
          <a:prstGeom prst="rect">
            <a:avLst/>
          </a:prstGeom>
          <a:solidFill>
            <a:srgbClr val="3CF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1411712" y="1554480"/>
            <a:ext cx="109728" cy="109728"/>
          </a:xfrm>
          <a:prstGeom prst="rect">
            <a:avLst/>
          </a:prstGeom>
          <a:solidFill>
            <a:srgbClr val="3CF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17920" y="5925312"/>
            <a:ext cx="109728" cy="109728"/>
          </a:xfrm>
          <a:prstGeom prst="rect">
            <a:avLst/>
          </a:prstGeom>
          <a:solidFill>
            <a:srgbClr val="3CF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411712" y="5925312"/>
            <a:ext cx="109728" cy="109728"/>
          </a:xfrm>
          <a:prstGeom prst="rect">
            <a:avLst/>
          </a:prstGeom>
          <a:solidFill>
            <a:srgbClr val="3CF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37960" y="187451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CFF82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246888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5F5FF"/>
                </a:solidFill>
                <a:latin typeface="Aptos"/>
              </a:defRPr>
            </a:pPr>
            <a:r>
              <a:t>▸ Dedicated manager classes</a:t>
            </a:r>
          </a:p>
          <a:p>
            <a:pPr>
              <a:spcAft>
                <a:spcPts val="900"/>
              </a:spcAft>
              <a:defRPr sz="1600">
                <a:solidFill>
                  <a:srgbClr val="F5F5FF"/>
                </a:solidFill>
                <a:latin typeface="Aptos"/>
              </a:defRPr>
            </a:pPr>
            <a:r>
              <a:t>▸ State-based behaviour</a:t>
            </a:r>
          </a:p>
          <a:p>
            <a:pPr>
              <a:spcAft>
                <a:spcPts val="900"/>
              </a:spcAft>
              <a:defRPr sz="1600">
                <a:solidFill>
                  <a:srgbClr val="F5F5FF"/>
                </a:solidFill>
                <a:latin typeface="Aptos"/>
              </a:defRPr>
            </a:pPr>
            <a:r>
              <a:t>▸ Hitbox / collision checks</a:t>
            </a:r>
          </a:p>
          <a:p>
            <a:pPr>
              <a:spcAft>
                <a:spcPts val="900"/>
              </a:spcAft>
              <a:defRPr sz="1600">
                <a:solidFill>
                  <a:srgbClr val="F5F5FF"/>
                </a:solidFill>
                <a:latin typeface="Aptos"/>
              </a:defRPr>
            </a:pPr>
            <a:r>
              <a:t>▸ Serializable game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12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28600" y="6620256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93192" y="6620256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57784" y="6620256"/>
            <a:ext cx="109728" cy="109728"/>
          </a:xfrm>
          <a:prstGeom prst="rect">
            <a:avLst/>
          </a:prstGeom>
          <a:solidFill>
            <a:srgbClr val="FFE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22376" y="6620256"/>
            <a:ext cx="109728" cy="109728"/>
          </a:xfrm>
          <a:prstGeom prst="rect">
            <a:avLst/>
          </a:prstGeom>
          <a:solidFill>
            <a:srgbClr val="3CF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60120" y="65608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5A5BE"/>
                </a:solidFill>
                <a:latin typeface="Bahnschrift"/>
              </a:defRPr>
            </a:pPr>
            <a:r>
              <a:t>INSERT COIN   •   C# / MONOGAME   •   1 PLAYER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64240" y="65562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F0FF"/>
                </a:solidFill>
                <a:latin typeface="Bahnschrift"/>
              </a:defRPr>
            </a:pPr>
            <a: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F"/>
                </a:solidFill>
                <a:latin typeface="Bahnschrift"/>
              </a:defRPr>
            </a:pPr>
            <a:r>
              <a:t>DEMO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" y="1143000"/>
            <a:ext cx="2103120" cy="5029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80360" y="9875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5A5BE"/>
                </a:solidFill>
                <a:latin typeface="Bahnschrift"/>
              </a:defRPr>
            </a:pPr>
            <a:r>
              <a:t>LIVE GAMEPLAY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1234440"/>
            <a:ext cx="10332720" cy="5074920"/>
          </a:xfrm>
          <a:prstGeom prst="rect">
            <a:avLst/>
          </a:prstGeom>
          <a:solidFill>
            <a:srgbClr val="121226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14400" y="1234440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137392" y="1234440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14400" y="6199632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1137392" y="6199632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71600" y="28803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5A5BE"/>
                </a:solidFill>
                <a:latin typeface="Aptos"/>
              </a:defRPr>
            </a:pPr>
            <a:r>
              <a:t>INSERT VIDEO / GIF / SCREENSHOT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37033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CFF82"/>
                </a:solidFill>
                <a:latin typeface="Aptos"/>
              </a:defRPr>
            </a:pPr>
            <a:r>
              <a:t>▶  START DEMO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12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28600" y="6620256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93192" y="6620256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57784" y="6620256"/>
            <a:ext cx="109728" cy="109728"/>
          </a:xfrm>
          <a:prstGeom prst="rect">
            <a:avLst/>
          </a:prstGeom>
          <a:solidFill>
            <a:srgbClr val="FFE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22376" y="6620256"/>
            <a:ext cx="109728" cy="109728"/>
          </a:xfrm>
          <a:prstGeom prst="rect">
            <a:avLst/>
          </a:prstGeom>
          <a:solidFill>
            <a:srgbClr val="3CF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0120" y="65608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5A5BE"/>
                </a:solidFill>
                <a:latin typeface="Bahnschrift"/>
              </a:defRPr>
            </a:pPr>
            <a:r>
              <a:t>INSERT COIN   •   C# / MONOGAME   •   1 PLAYER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5562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F0FF"/>
                </a:solidFill>
                <a:latin typeface="Bahnschrift"/>
              </a:defRPr>
            </a:pPr>
            <a: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F"/>
                </a:solidFill>
                <a:latin typeface="Bahnschrift"/>
              </a:defRPr>
            </a:pPr>
            <a:r>
              <a:t>RESULTS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" y="1143000"/>
            <a:ext cx="2103120" cy="50292"/>
          </a:xfrm>
          <a:prstGeom prst="rect">
            <a:avLst/>
          </a:prstGeom>
          <a:solidFill>
            <a:srgbClr val="3CF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80360" y="9875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5A5BE"/>
                </a:solidFill>
                <a:latin typeface="Bahnschrift"/>
              </a:defRPr>
            </a:pPr>
            <a:r>
              <a:t>WHAT WAS ACHIEVED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1554480"/>
            <a:ext cx="10835640" cy="4526280"/>
          </a:xfrm>
          <a:prstGeom prst="rect">
            <a:avLst/>
          </a:prstGeom>
          <a:solidFill>
            <a:srgbClr val="121226"/>
          </a:solidFill>
          <a:ln w="15240">
            <a:solidFill>
              <a:srgbClr val="3CF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" y="1554480"/>
            <a:ext cx="109728" cy="109728"/>
          </a:xfrm>
          <a:prstGeom prst="rect">
            <a:avLst/>
          </a:prstGeom>
          <a:solidFill>
            <a:srgbClr val="3CF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411712" y="1554480"/>
            <a:ext cx="109728" cy="109728"/>
          </a:xfrm>
          <a:prstGeom prst="rect">
            <a:avLst/>
          </a:prstGeom>
          <a:solidFill>
            <a:srgbClr val="3CF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5800" y="5971032"/>
            <a:ext cx="109728" cy="109728"/>
          </a:xfrm>
          <a:prstGeom prst="rect">
            <a:avLst/>
          </a:prstGeom>
          <a:solidFill>
            <a:srgbClr val="3CF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1411712" y="5971032"/>
            <a:ext cx="109728" cy="109728"/>
          </a:xfrm>
          <a:prstGeom prst="rect">
            <a:avLst/>
          </a:prstGeom>
          <a:solidFill>
            <a:srgbClr val="3CF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40" y="22402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0F0FF"/>
                </a:solidFill>
                <a:latin typeface="Aptos"/>
              </a:defRPr>
            </a:pPr>
            <a:r>
              <a:t>XX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971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5FF"/>
                </a:solidFill>
                <a:latin typeface="Aptos"/>
              </a:defRPr>
            </a:pPr>
            <a:r>
              <a:t>WAVES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22402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2DB4"/>
                </a:solidFill>
                <a:latin typeface="Aptos"/>
              </a:defRPr>
            </a:pPr>
            <a:r>
              <a:t>XX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03320" y="2971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5FF"/>
                </a:solidFill>
                <a:latin typeface="Aptos"/>
              </a:defRPr>
            </a:pPr>
            <a:r>
              <a:t>ENEMIES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2402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E646"/>
                </a:solidFill>
                <a:latin typeface="Aptos"/>
              </a:defRPr>
            </a:pPr>
            <a:r>
              <a:t>XX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971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5FF"/>
                </a:solidFill>
                <a:latin typeface="Aptos"/>
              </a:defRPr>
            </a:pPr>
            <a:r>
              <a:t>UPGRADES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22402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3CFF82"/>
                </a:solidFill>
                <a:latin typeface="Aptos"/>
              </a:defRPr>
            </a:pPr>
            <a:r>
              <a:t>XX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2971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5FF"/>
                </a:solidFill>
                <a:latin typeface="Aptos"/>
              </a:defRPr>
            </a:pPr>
            <a:r>
              <a:t>BOSSES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42519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5A5BE"/>
                </a:solidFill>
                <a:latin typeface="Aptos"/>
              </a:defRPr>
            </a:pPr>
            <a:r>
              <a:t>Replace the values with your real project statistics.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12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28600" y="6620256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93192" y="6620256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57784" y="6620256"/>
            <a:ext cx="109728" cy="109728"/>
          </a:xfrm>
          <a:prstGeom prst="rect">
            <a:avLst/>
          </a:prstGeom>
          <a:solidFill>
            <a:srgbClr val="FFE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22376" y="6620256"/>
            <a:ext cx="109728" cy="109728"/>
          </a:xfrm>
          <a:prstGeom prst="rect">
            <a:avLst/>
          </a:prstGeom>
          <a:solidFill>
            <a:srgbClr val="3CF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60120" y="65608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5A5BE"/>
                </a:solidFill>
                <a:latin typeface="Bahnschrift"/>
              </a:defRPr>
            </a:pPr>
            <a:r>
              <a:t>INSERT COIN   •   C# / MONOGAME   •   1 PLAYER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64240" y="65562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F0FF"/>
                </a:solidFill>
                <a:latin typeface="Bahnschrift"/>
              </a:defRPr>
            </a:pPr>
            <a: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999" cy="7315"/>
          </a:xfrm>
          <a:prstGeom prst="rect">
            <a:avLst/>
          </a:prstGeom>
          <a:solidFill>
            <a:srgbClr val="26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400" y="914400"/>
            <a:ext cx="10332720" cy="5029200"/>
          </a:xfrm>
          <a:prstGeom prst="rect">
            <a:avLst/>
          </a:prstGeom>
          <a:solidFill>
            <a:srgbClr val="121226"/>
          </a:solidFill>
          <a:ln w="15240">
            <a:solidFill>
              <a:srgbClr val="FF2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4400" y="914400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1137392" y="914400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" y="5833872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1137392" y="5833872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25880" y="1508760"/>
            <a:ext cx="9509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0F0FF"/>
                </a:solidFill>
                <a:latin typeface="Aptos"/>
              </a:defRPr>
            </a:pPr>
            <a:r>
              <a:t>GAME OVER?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224028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2DB4"/>
                </a:solidFill>
                <a:latin typeface="Aptos"/>
              </a:defRPr>
            </a:pPr>
            <a:r>
              <a:t>NOPE.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333756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E646"/>
                </a:solidFill>
                <a:latin typeface="Aptos"/>
              </a:defRPr>
            </a:pPr>
            <a:r>
              <a:t>THANK YOU FOR PLAYING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416052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CFF82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4983480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5A5BE"/>
                </a:solidFill>
                <a:latin typeface="Aptos"/>
              </a:defRPr>
            </a:pPr>
            <a:r>
              <a:t>C#  •  MONOGAME  •  SPACE SHOOTER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12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28600" y="6620256"/>
            <a:ext cx="109728" cy="10972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93192" y="6620256"/>
            <a:ext cx="109728" cy="109728"/>
          </a:xfrm>
          <a:prstGeom prst="rect">
            <a:avLst/>
          </a:prstGeom>
          <a:solidFill>
            <a:srgbClr val="FF2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57784" y="6620256"/>
            <a:ext cx="109728" cy="109728"/>
          </a:xfrm>
          <a:prstGeom prst="rect">
            <a:avLst/>
          </a:prstGeom>
          <a:solidFill>
            <a:srgbClr val="FFE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22376" y="6620256"/>
            <a:ext cx="109728" cy="109728"/>
          </a:xfrm>
          <a:prstGeom prst="rect">
            <a:avLst/>
          </a:prstGeom>
          <a:solidFill>
            <a:srgbClr val="3CF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0120" y="65608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5A5BE"/>
                </a:solidFill>
                <a:latin typeface="Bahnschrift"/>
              </a:defRPr>
            </a:pPr>
            <a:r>
              <a:t>INSERT COIN   •   C# / MONOGAME   •   1 PLAYER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5562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F0FF"/>
                </a:solidFill>
                <a:latin typeface="Bahnschrift"/>
              </a:defRPr>
            </a:pPr>
            <a: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386</Words>
  <Application>Microsoft Office PowerPoint</Application>
  <PresentationFormat>Widescreen</PresentationFormat>
  <Paragraphs>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bastien.jcln@eduge.ch</cp:lastModifiedBy>
  <cp:revision>2</cp:revision>
  <dcterms:created xsi:type="dcterms:W3CDTF">2013-01-27T09:14:16Z</dcterms:created>
  <dcterms:modified xsi:type="dcterms:W3CDTF">2026-10-06T11:43:53Z</dcterms:modified>
  <cp:category/>
</cp:coreProperties>
</file>